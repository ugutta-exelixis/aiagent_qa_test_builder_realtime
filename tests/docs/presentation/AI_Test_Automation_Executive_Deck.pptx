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778240" y="4937760"/>
            <a:ext cx="868680" cy="868680"/>
          </a:xfrm>
          <a:prstGeom prst="roundRect">
            <a:avLst>
              <a:gd name="adj" fmla="val 6000"/>
            </a:avLst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9966960" y="4937760"/>
            <a:ext cx="868680" cy="868680"/>
          </a:xfrm>
          <a:prstGeom prst="roundRect">
            <a:avLst>
              <a:gd name="adj" fmla="val 6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11155680" y="4937760"/>
            <a:ext cx="868680" cy="868680"/>
          </a:xfrm>
          <a:prstGeom prst="roundRect">
            <a:avLst>
              <a:gd name="adj" fmla="val 6000"/>
            </a:avLst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00A8A0"/>
                </a:solidFill>
                <a:latin typeface="Segoe UI"/>
              </a:rPr>
              <a:t>EXECUTIVE BRIEFING  · 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96012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4200" b="1">
                <a:solidFill>
                  <a:srgbClr val="FFFFFF"/>
                </a:solidFill>
                <a:latin typeface="Segoe UI"/>
              </a:rPr>
              <a:t>Accelerating Software Quality with AI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2100" b="0">
                <a:solidFill>
                  <a:srgbClr val="C7D3E0"/>
                </a:solidFill>
                <a:latin typeface="Segoe UI"/>
              </a:rPr>
              <a:t>Automated Test Engineering for the Clinical Data Platform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4160520"/>
            <a:ext cx="2194560" cy="45720"/>
          </a:xfrm>
          <a:prstGeom prst="rect">
            <a:avLst/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68680" y="4526280"/>
            <a:ext cx="8686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900" b="1">
                <a:solidFill>
                  <a:srgbClr val="FFFFFF"/>
                </a:solidFill>
                <a:latin typeface="Segoe UI"/>
              </a:rPr>
              <a:t>20 days of engineering work delivered in 2 days.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C7D3E0"/>
                </a:solidFill>
                <a:latin typeface="Segoe UI"/>
              </a:rPr>
              <a:t>2 live defects found — one affecting patient-data protection.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60350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8FA3B8"/>
                </a:solidFill>
                <a:latin typeface="Segoe UI"/>
              </a:rPr>
              <a:t>Prepared by Data Engineering  ·  DDDA Clinical Data Platform (Koios)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00A8A0"/>
                </a:solidFill>
                <a:latin typeface="Segoe U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0B2545"/>
                </a:solidFill>
                <a:latin typeface="Segoe UI"/>
              </a:rPr>
              <a:t>What we will cover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89304"/>
            <a:ext cx="10789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5A6675"/>
                </a:solidFill>
                <a:latin typeface="Segoe UI"/>
              </a:rPr>
              <a:t>A ten-minute walkthrough of the pilot, the savings, and the decision we are asking for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85800" y="651967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5A6675"/>
                </a:solidFill>
                <a:latin typeface="Segoe UI"/>
              </a:rPr>
              <a:t>AI Test Automation  ·  Clinical Data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1967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5A6675"/>
                </a:solidFill>
                <a:latin typeface="Segoe U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342900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3429000" cy="64008"/>
          </a:xfrm>
          <a:prstGeom prst="rect">
            <a:avLst/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41832" y="2066544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00A8A0"/>
                </a:solidFill>
                <a:latin typeface="Segoe U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450592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Segoe UI"/>
              </a:rPr>
              <a:t>The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2816352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5A6675"/>
                </a:solidFill>
                <a:latin typeface="Segoe UI"/>
              </a:rPr>
              <a:t>Why quality assurance kept getting deferred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828800"/>
            <a:ext cx="342900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89120" y="1828800"/>
            <a:ext cx="3429000" cy="64008"/>
          </a:xfrm>
          <a:prstGeom prst="rect">
            <a:avLst/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45152" y="2066544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00A8A0"/>
                </a:solidFill>
                <a:latin typeface="Segoe U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2450592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Segoe UI"/>
              </a:rPr>
              <a:t>What we did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5152" y="2816352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5A6675"/>
                </a:solidFill>
                <a:latin typeface="Segoe UI"/>
              </a:rPr>
              <a:t>An AI assistant that writes and proves its own tests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1828800"/>
            <a:ext cx="342900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8092440" y="1828800"/>
            <a:ext cx="3429000" cy="64008"/>
          </a:xfrm>
          <a:prstGeom prst="rect">
            <a:avLst/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348472" y="2066544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00A8A0"/>
                </a:solidFill>
                <a:latin typeface="Segoe U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2" y="2450592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Segoe UI"/>
              </a:rPr>
              <a:t>The results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2" y="2816352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5A6675"/>
                </a:solidFill>
                <a:latin typeface="Segoe UI"/>
              </a:rPr>
              <a:t>146 tests · 2 defects found · 9-second run time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703319"/>
            <a:ext cx="342900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85800" y="3703319"/>
            <a:ext cx="3429000" cy="64008"/>
          </a:xfrm>
          <a:prstGeom prst="rect">
            <a:avLst/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41832" y="3941063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00A8A0"/>
                </a:solidFill>
                <a:latin typeface="Segoe U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" y="4325111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Segoe UI"/>
              </a:rPr>
              <a:t>The time saved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" y="4690871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5A6675"/>
                </a:solidFill>
                <a:latin typeface="Segoe UI"/>
              </a:rPr>
              <a:t>90% reduction — and an honest view of the number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89120" y="3703319"/>
            <a:ext cx="342900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4389120" y="3703319"/>
            <a:ext cx="3429000" cy="64008"/>
          </a:xfrm>
          <a:prstGeom prst="rect">
            <a:avLst/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645152" y="3941063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00A8A0"/>
                </a:solidFill>
                <a:latin typeface="Segoe UI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45152" y="4325111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Segoe UI"/>
              </a:rPr>
              <a:t>Safety &amp; control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45152" y="4690871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5A6675"/>
                </a:solidFill>
                <a:latin typeface="Segoe UI"/>
              </a:rPr>
              <a:t>Where your code goes, and where it does not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92440" y="3703319"/>
            <a:ext cx="342900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8092440" y="3703319"/>
            <a:ext cx="3429000" cy="64008"/>
          </a:xfrm>
          <a:prstGeom prst="rect">
            <a:avLst/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348472" y="3941063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00A8A0"/>
                </a:solidFill>
                <a:latin typeface="Segoe UI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48472" y="4325111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Segoe UI"/>
              </a:rPr>
              <a:t>The recommendation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48472" y="4690871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5A6675"/>
                </a:solidFill>
                <a:latin typeface="Segoe UI"/>
              </a:rPr>
              <a:t>What we are asking you to approve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00A8A0"/>
                </a:solidFill>
                <a:latin typeface="Segoe U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0B2545"/>
                </a:solidFill>
                <a:latin typeface="Segoe UI"/>
              </a:rPr>
              <a:t>The result in one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89304"/>
            <a:ext cx="10789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5A6675"/>
                </a:solidFill>
                <a:latin typeface="Segoe UI"/>
              </a:rPr>
              <a:t>A four-week manual undertaking, delivered in two supervised days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85800" y="651967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5A6675"/>
                </a:solidFill>
                <a:latin typeface="Segoe UI"/>
              </a:rPr>
              <a:t>AI Test Automation  ·  Clinical Data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1967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5A6675"/>
                </a:solidFill>
                <a:latin typeface="Segoe UI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920240"/>
            <a:ext cx="26060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85800" y="1920240"/>
            <a:ext cx="64008" cy="1965960"/>
          </a:xfrm>
          <a:prstGeom prst="rect">
            <a:avLst/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78408" y="2121408"/>
            <a:ext cx="2148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00A8A0"/>
                </a:solidFill>
                <a:latin typeface="Segoe UI"/>
              </a:rPr>
              <a:t>146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0B2545"/>
                </a:solidFill>
                <a:latin typeface="Segoe UI"/>
              </a:rPr>
              <a:t>Automated tests created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46120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5A6675"/>
                </a:solidFill>
                <a:latin typeface="Segoe UI"/>
              </a:rPr>
              <a:t>Across all three data layers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1920240"/>
            <a:ext cx="26060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3474720" y="1920240"/>
            <a:ext cx="64008" cy="1965960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767328" y="2121408"/>
            <a:ext cx="2148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2E9E5B"/>
                </a:solidFill>
                <a:latin typeface="Segoe UI"/>
              </a:rPr>
              <a:t>90%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67328" y="2852928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0B2545"/>
                </a:solidFill>
                <a:latin typeface="Segoe UI"/>
              </a:rPr>
              <a:t>Reduction in effort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67328" y="3246120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5A6675"/>
                </a:solidFill>
                <a:latin typeface="Segoe UI"/>
              </a:rPr>
              <a:t>20 days → 2 days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920240"/>
            <a:ext cx="26060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263640" y="1920240"/>
            <a:ext cx="64008" cy="1965960"/>
          </a:xfrm>
          <a:prstGeom prst="rect">
            <a:avLst/>
          </a:prstGeom>
          <a:solidFill>
            <a:srgbClr val="C03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56248" y="2121408"/>
            <a:ext cx="2148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C0393B"/>
                </a:solidFill>
                <a:latin typeface="Segoe U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6248" y="2852928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0B2545"/>
                </a:solidFill>
                <a:latin typeface="Segoe UI"/>
              </a:rPr>
              <a:t>Live defects found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6248" y="3246120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5A6675"/>
                </a:solidFill>
                <a:latin typeface="Segoe UI"/>
              </a:rPr>
              <a:t>One affecting patient-data protection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59" y="1920240"/>
            <a:ext cx="26060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9052559" y="1920240"/>
            <a:ext cx="64008" cy="19659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345167" y="2121408"/>
            <a:ext cx="2148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0B2545"/>
                </a:solidFill>
                <a:latin typeface="Segoe UI"/>
              </a:rPr>
              <a:t>$0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45167" y="2852928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0B2545"/>
                </a:solidFill>
                <a:latin typeface="Segoe UI"/>
              </a:rPr>
              <a:t>Cloud cost to run tests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45167" y="3246120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5A6675"/>
                </a:solidFill>
                <a:latin typeface="Segoe UI"/>
              </a:rPr>
              <a:t>Runs in 9 seconds, no data cluster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343400"/>
            <a:ext cx="10789920" cy="1508760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051560" y="4572000"/>
            <a:ext cx="10149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900" b="1">
                <a:solidFill>
                  <a:srgbClr val="FFFFFF"/>
                </a:solidFill>
                <a:latin typeface="Segoe UI"/>
              </a:rPr>
              <a:t>The pilot did not just save time — it found problems that manual review had missed.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400" b="0">
                <a:solidFill>
                  <a:srgbClr val="C7D3E0"/>
                </a:solidFill>
                <a:latin typeface="Segoe UI"/>
              </a:rPr>
              <a:t>Both defects were already live in our development environment. Neither had been caught by code review.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00A8A0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0B2545"/>
                </a:solidFill>
                <a:latin typeface="Segoe UI"/>
              </a:rPr>
              <a:t>Why this needed solving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89304"/>
            <a:ext cx="10789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5A6675"/>
                </a:solidFill>
                <a:latin typeface="Segoe UI"/>
              </a:rPr>
              <a:t>The Clinical Data Platform processes regulated trial data — with effectively no automated safety net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85800" y="651967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5A6675"/>
                </a:solidFill>
                <a:latin typeface="Segoe UI"/>
              </a:rPr>
              <a:t>AI Test Automation  ·  Clinical Data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1967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5A6675"/>
                </a:solidFill>
                <a:latin typeface="Segoe UI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74519"/>
            <a:ext cx="6766560" cy="43891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13816" y="1975103"/>
            <a:ext cx="34747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Without automated tests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1416" y="1975103"/>
            <a:ext cx="29260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Business consequence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313431"/>
            <a:ext cx="67665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13816" y="2414015"/>
            <a:ext cx="34747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2545"/>
                </a:solidFill>
                <a:latin typeface="Segoe UI"/>
              </a:rPr>
              <a:t>Defects surface only when a pipeline fails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1416" y="2414015"/>
            <a:ext cx="2926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2545"/>
                </a:solidFill>
                <a:latin typeface="Segoe UI"/>
              </a:rPr>
              <a:t>Delays, rework, expensive re-runs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2770631"/>
            <a:ext cx="6766560" cy="4572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13816" y="2871215"/>
            <a:ext cx="34747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2545"/>
                </a:solidFill>
                <a:latin typeface="Segoe UI"/>
              </a:rPr>
              <a:t>Engineers cannot safely modernise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1416" y="2871215"/>
            <a:ext cx="2926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2545"/>
                </a:solidFill>
                <a:latin typeface="Segoe UI"/>
              </a:rPr>
              <a:t>Technical debt compounds; delivery slows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3227831"/>
            <a:ext cx="67665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13816" y="3328415"/>
            <a:ext cx="34747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2545"/>
                </a:solidFill>
                <a:latin typeface="Segoe UI"/>
              </a:rPr>
              <a:t>Quality evidence is manual and inconsistent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1416" y="3328415"/>
            <a:ext cx="2926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2545"/>
                </a:solidFill>
                <a:latin typeface="Segoe UI"/>
              </a:rPr>
              <a:t>Weak position in audit and regulatory review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3685031"/>
            <a:ext cx="6766560" cy="4572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13816" y="3785615"/>
            <a:ext cx="34747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2545"/>
                </a:solidFill>
                <a:latin typeface="Segoe UI"/>
              </a:rPr>
              <a:t>Business rules live in people's heads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71416" y="3785615"/>
            <a:ext cx="2926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2545"/>
                </a:solidFill>
                <a:latin typeface="Segoe UI"/>
              </a:rPr>
              <a:t>Key-person dependency; painful onboarding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4142231"/>
            <a:ext cx="67665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13816" y="4242815"/>
            <a:ext cx="34747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2545"/>
                </a:solidFill>
                <a:latin typeface="Segoe UI"/>
              </a:rPr>
              <a:t>Every change carries unquantified risk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71416" y="4242815"/>
            <a:ext cx="2926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2545"/>
                </a:solidFill>
                <a:latin typeface="Segoe UI"/>
              </a:rPr>
              <a:t>Teams become cautious; velocity drops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18120" y="1874519"/>
            <a:ext cx="3657600" cy="3200400"/>
          </a:xfrm>
          <a:prstGeom prst="roundRect">
            <a:avLst>
              <a:gd name="adj" fmla="val 6000"/>
            </a:avLst>
          </a:prstGeom>
          <a:solidFill>
            <a:srgbClr val="FDF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7818120" y="1874519"/>
            <a:ext cx="3657600" cy="7315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138160" y="219456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0B2545"/>
                </a:solidFill>
                <a:latin typeface="Segoe UI"/>
              </a:rPr>
              <a:t>Why wasn't it solved?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2697480"/>
            <a:ext cx="30632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500" b="1">
                <a:solidFill>
                  <a:srgbClr val="0B2545"/>
                </a:solidFill>
                <a:latin typeface="Segoe UI"/>
              </a:rPr>
              <a:t>Not neglect — economics.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300" b="0">
                <a:solidFill>
                  <a:srgbClr val="5A6675"/>
                </a:solidFill>
                <a:latin typeface="Segoe UI"/>
              </a:rPr>
              <a:t>Thorough testing of complex data pipelines takes a senior engineer 2–3 days per module. With competing deadlines, it is perpetually deferred.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400" b="1">
                <a:solidFill>
                  <a:srgbClr val="0B2545"/>
                </a:solidFill>
                <a:latin typeface="Segoe UI"/>
              </a:rPr>
              <a:t>The constraint was never willingness. It was cost.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349240"/>
            <a:ext cx="10789920" cy="685800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051560" y="5532120"/>
            <a:ext cx="10149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AI changes that equation.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00A8A0"/>
                </a:solidFill>
                <a:latin typeface="Segoe UI"/>
              </a:rPr>
              <a:t>WHAT WE DID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0B2545"/>
                </a:solidFill>
                <a:latin typeface="Segoe UI"/>
              </a:rPr>
              <a:t>How the AI assistant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89304"/>
            <a:ext cx="10789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5A6675"/>
                </a:solidFill>
                <a:latin typeface="Segoe UI"/>
              </a:rPr>
              <a:t>It works the way a good engineer works — and, critically, it proves its own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85800" y="651967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5A6675"/>
                </a:solidFill>
                <a:latin typeface="Segoe UI"/>
              </a:rPr>
              <a:t>AI Test Automation  ·  Clinical Data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1967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5A6675"/>
                </a:solidFill>
                <a:latin typeface="Segoe UI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148840"/>
            <a:ext cx="1572768" cy="1280160"/>
          </a:xfrm>
          <a:prstGeom prst="roundRect">
            <a:avLst>
              <a:gd name="adj" fmla="val 6000"/>
            </a:avLst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50" b="1">
                <a:solidFill>
                  <a:srgbClr val="FFFFFF"/>
                </a:solidFill>
                <a:latin typeface="Segoe UI"/>
              </a:rPr>
              <a:t>Read
the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37944"/>
            <a:ext cx="15727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00" b="1">
                <a:solidFill>
                  <a:srgbClr val="5A6675"/>
                </a:solidFill>
                <a:latin typeface="Segoe UI"/>
              </a:rPr>
              <a:t>STEP 1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359152" y="2651760"/>
            <a:ext cx="292608" cy="274320"/>
          </a:xfrm>
          <a:prstGeom prst="rightArrow">
            <a:avLst/>
          </a:prstGeom>
          <a:solidFill>
            <a:srgbClr val="5A66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61488" y="2148840"/>
            <a:ext cx="1572768" cy="1280160"/>
          </a:xfrm>
          <a:prstGeom prst="roundRect">
            <a:avLst>
              <a:gd name="adj" fmla="val 6000"/>
            </a:avLst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50" b="1">
                <a:solidFill>
                  <a:srgbClr val="FFFFFF"/>
                </a:solidFill>
                <a:latin typeface="Segoe UI"/>
              </a:rPr>
              <a:t>Design the
test approach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1488" y="1837944"/>
            <a:ext cx="15727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00" b="1">
                <a:solidFill>
                  <a:srgbClr val="5A6675"/>
                </a:solidFill>
                <a:latin typeface="Segoe UI"/>
              </a:rPr>
              <a:t>STEP 2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434840" y="2651760"/>
            <a:ext cx="292608" cy="274320"/>
          </a:xfrm>
          <a:prstGeom prst="rightArrow">
            <a:avLst/>
          </a:prstGeom>
          <a:solidFill>
            <a:srgbClr val="5A66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837176" y="2148840"/>
            <a:ext cx="1572768" cy="1280160"/>
          </a:xfrm>
          <a:prstGeom prst="roundRect">
            <a:avLst>
              <a:gd name="adj" fmla="val 6000"/>
            </a:avLst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50" b="1">
                <a:solidFill>
                  <a:srgbClr val="FFFFFF"/>
                </a:solidFill>
                <a:latin typeface="Segoe UI"/>
              </a:rPr>
              <a:t>Write
the tests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37176" y="1837944"/>
            <a:ext cx="15727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00" b="1">
                <a:solidFill>
                  <a:srgbClr val="5A6675"/>
                </a:solidFill>
                <a:latin typeface="Segoe UI"/>
              </a:rPr>
              <a:t>STEP 3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510528" y="2651760"/>
            <a:ext cx="292608" cy="274320"/>
          </a:xfrm>
          <a:prstGeom prst="rightArrow">
            <a:avLst/>
          </a:prstGeom>
          <a:solidFill>
            <a:srgbClr val="5A66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912864" y="2148840"/>
            <a:ext cx="1572768" cy="1280160"/>
          </a:xfrm>
          <a:prstGeom prst="roundRect">
            <a:avLst>
              <a:gd name="adj" fmla="val 6000"/>
            </a:avLst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50" b="1">
                <a:solidFill>
                  <a:srgbClr val="FFFFFF"/>
                </a:solidFill>
                <a:latin typeface="Segoe UI"/>
              </a:rPr>
              <a:t>Run
the tests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12864" y="1837944"/>
            <a:ext cx="15727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00" b="1">
                <a:solidFill>
                  <a:srgbClr val="5A6675"/>
                </a:solidFill>
                <a:latin typeface="Segoe UI"/>
              </a:rPr>
              <a:t>STEP 4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586216" y="2651760"/>
            <a:ext cx="292608" cy="274320"/>
          </a:xfrm>
          <a:prstGeom prst="rightArrow">
            <a:avLst/>
          </a:prstGeom>
          <a:solidFill>
            <a:srgbClr val="5A66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988552" y="2148840"/>
            <a:ext cx="1572768" cy="1280160"/>
          </a:xfrm>
          <a:prstGeom prst="roundRect">
            <a:avLst>
              <a:gd name="adj" fmla="val 6000"/>
            </a:avLst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50" b="1">
                <a:solidFill>
                  <a:srgbClr val="FFFFFF"/>
                </a:solidFill>
                <a:latin typeface="Segoe UI"/>
              </a:rPr>
              <a:t>Correct
itself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88552" y="1837944"/>
            <a:ext cx="15727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00" b="1">
                <a:solidFill>
                  <a:srgbClr val="5A6675"/>
                </a:solidFill>
                <a:latin typeface="Segoe UI"/>
              </a:rPr>
              <a:t>STEP 5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10661904" y="2651760"/>
            <a:ext cx="292608" cy="274320"/>
          </a:xfrm>
          <a:prstGeom prst="rightArrow">
            <a:avLst/>
          </a:prstGeom>
          <a:solidFill>
            <a:srgbClr val="5A66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1064240" y="2148840"/>
            <a:ext cx="1572768" cy="1280160"/>
          </a:xfrm>
          <a:prstGeom prst="roundRect">
            <a:avLst>
              <a:gd name="adj" fmla="val 6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50" b="1">
                <a:solidFill>
                  <a:srgbClr val="FFFFFF"/>
                </a:solidFill>
                <a:latin typeface="Segoe UI"/>
              </a:rPr>
              <a:t>Human
approves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1837944"/>
            <a:ext cx="15727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00" b="1">
                <a:solidFill>
                  <a:srgbClr val="5A6675"/>
                </a:solidFill>
                <a:latin typeface="Segoe UI"/>
              </a:rPr>
              <a:t>STEP 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3794760"/>
            <a:ext cx="8229600" cy="54864"/>
          </a:xfrm>
          <a:prstGeom prst="rect">
            <a:avLst/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85800" y="3886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0A8A0"/>
                </a:solidFill>
                <a:latin typeface="Segoe UI"/>
              </a:rPr>
              <a:t>◀ If a test fails, the assistant reads the real error and corrects itself — then runs again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526280"/>
            <a:ext cx="10789920" cy="1371600"/>
          </a:xfrm>
          <a:prstGeom prst="roundRect">
            <a:avLst>
              <a:gd name="adj" fmla="val 6000"/>
            </a:avLst>
          </a:prstGeom>
          <a:solidFill>
            <a:srgbClr val="E2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85800" y="4526280"/>
            <a:ext cx="73152" cy="1371600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051560" y="4754880"/>
            <a:ext cx="10149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0B2545"/>
                </a:solidFill>
                <a:latin typeface="Segoe UI"/>
              </a:rPr>
              <a:t>The critical difference from ordinary AI tools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50" b="0">
                <a:solidFill>
                  <a:srgbClr val="5A6675"/>
                </a:solidFill>
                <a:latin typeface="Segoe UI"/>
              </a:rPr>
              <a:t>This assistant runs the tests and sees real results. It is not guessing at plausible-looking code — it proves its work, corrects itself when wrong, and only then brings the outcome to a human.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00A8A0"/>
                </a:solidFill>
                <a:latin typeface="Segoe U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0B2545"/>
                </a:solidFill>
                <a:latin typeface="Segoe UI"/>
              </a:rPr>
              <a:t>Where everything happens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89304"/>
            <a:ext cx="10789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5A6675"/>
                </a:solidFill>
                <a:latin typeface="Segoe UI"/>
              </a:rPr>
              <a:t>Three things to take from this picture — and the third is the most important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85800" y="651967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5A6675"/>
                </a:solidFill>
                <a:latin typeface="Segoe UI"/>
              </a:rPr>
              <a:t>AI Test Automation  ·  Clinical Data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1967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5A6675"/>
                </a:solidFill>
                <a:latin typeface="Segoe UI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83080"/>
            <a:ext cx="6903720" cy="3246120"/>
          </a:xfrm>
          <a:prstGeom prst="roundRect">
            <a:avLst>
              <a:gd name="adj" fmla="val 6000"/>
            </a:avLst>
          </a:prstGeom>
          <a:solidFill>
            <a:srgbClr val="D8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00A8A0"/>
                </a:solidFill>
                <a:latin typeface="Segoe UI"/>
              </a:rPr>
              <a:t>OUR SECURE ENVIRONMENT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2377440"/>
            <a:ext cx="1463040" cy="1371600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651760"/>
            <a:ext cx="1280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Our 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108960"/>
            <a:ext cx="1280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DDEEEE"/>
                </a:solidFill>
                <a:latin typeface="Segoe UI"/>
              </a:rPr>
              <a:t>never leaves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496312" y="2926080"/>
            <a:ext cx="256032" cy="256032"/>
          </a:xfrm>
          <a:prstGeom prst="rightArrow">
            <a:avLst/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651760" y="2377440"/>
            <a:ext cx="1463040" cy="1371600"/>
          </a:xfrm>
          <a:prstGeom prst="roundRect">
            <a:avLst>
              <a:gd name="adj" fmla="val 6000"/>
            </a:avLst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743200" y="2651760"/>
            <a:ext cx="1280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AI assistant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108960"/>
            <a:ext cx="1280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DDEEEE"/>
                </a:solidFill>
                <a:latin typeface="Segoe UI"/>
              </a:rPr>
              <a:t>reads · writes · runs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187952" y="2926080"/>
            <a:ext cx="256032" cy="256032"/>
          </a:xfrm>
          <a:prstGeom prst="rightArrow">
            <a:avLst/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43400" y="2377440"/>
            <a:ext cx="1463040" cy="1371600"/>
          </a:xfrm>
          <a:prstGeom prst="roundRect">
            <a:avLst>
              <a:gd name="adj" fmla="val 6000"/>
            </a:avLst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434840" y="2651760"/>
            <a:ext cx="1280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146 tests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108960"/>
            <a:ext cx="1280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DDEEEE"/>
                </a:solidFill>
                <a:latin typeface="Segoe UI"/>
              </a:rPr>
              <a:t>9 seconds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879592" y="2926080"/>
            <a:ext cx="256032" cy="256032"/>
          </a:xfrm>
          <a:prstGeom prst="rightArrow">
            <a:avLst/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035040" y="2377440"/>
            <a:ext cx="1463040" cy="1371600"/>
          </a:xfrm>
          <a:prstGeom prst="roundRect">
            <a:avLst>
              <a:gd name="adj" fmla="val 6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126480" y="2651760"/>
            <a:ext cx="1280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Human engineer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3108960"/>
            <a:ext cx="1280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DDEEEE"/>
                </a:solidFill>
                <a:latin typeface="Segoe UI"/>
              </a:rPr>
              <a:t>reviews &amp; approves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3977639"/>
            <a:ext cx="6400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0B2545"/>
                </a:solidFill>
                <a:latin typeface="Segoe UI"/>
              </a:rPr>
              <a:t>Enterprise agreement: our code is never used to train public AI models.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5A6675"/>
                </a:solidFill>
                <a:latin typeface="Segoe UI"/>
              </a:rPr>
              <a:t>Analysis happens inside our own controlled boundary.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55279" y="1783080"/>
            <a:ext cx="3520440" cy="3246120"/>
          </a:xfrm>
          <a:prstGeom prst="roundRect">
            <a:avLst>
              <a:gd name="adj" fmla="val 6000"/>
            </a:avLst>
          </a:prstGeom>
          <a:solidFill>
            <a:srgbClr val="FAE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183879" y="193852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C0393B"/>
                </a:solidFill>
                <a:latin typeface="Segoe UI"/>
              </a:rPr>
              <a:t>DELIBERATELY UNREACHABLE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79" y="2331720"/>
            <a:ext cx="306324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C0393B"/>
                </a:solidFill>
                <a:latin typeface="Segoe UI"/>
              </a:rPr>
              <a:t>Clinical patient data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79" y="2953512"/>
            <a:ext cx="306324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C0393B"/>
                </a:solidFill>
                <a:latin typeface="Segoe UI"/>
              </a:rPr>
              <a:t>Production systems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83879" y="3575304"/>
            <a:ext cx="306324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C0393B"/>
                </a:solidFill>
                <a:latin typeface="Segoe UI"/>
              </a:rPr>
              <a:t>Cloud data warehouse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83879" y="4197096"/>
            <a:ext cx="306324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C0393B"/>
                </a:solidFill>
                <a:latin typeface="Segoe UI"/>
              </a:rPr>
              <a:t>Live credentials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35240" y="278892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200" b="0">
                <a:solidFill>
                  <a:srgbClr val="0B2545"/>
                </a:solidFill>
                <a:latin typeface="Segoe UI"/>
              </a:rPr>
              <a:t>⛔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5212080"/>
            <a:ext cx="10789920" cy="777240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1005840" y="5358384"/>
            <a:ext cx="10241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Segoe UI"/>
              </a:rPr>
              <a:t>1 · Code stays inside our boundary   ●   2 · The AI cannot reach patient data   ●   3 · A qualified human always approves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00A8A0"/>
                </a:solidFill>
                <a:latin typeface="Segoe UI"/>
              </a:rP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0B2545"/>
                </a:solidFill>
                <a:latin typeface="Segoe UI"/>
              </a:rPr>
              <a:t>From request to release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89304"/>
            <a:ext cx="10789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5A6675"/>
                </a:solidFill>
                <a:latin typeface="Segoe UI"/>
              </a:rPr>
              <a:t>Blue is automated. Amber is a human decision. Green is the business outcome.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85800" y="651967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5A6675"/>
                </a:solidFill>
                <a:latin typeface="Segoe UI"/>
              </a:rPr>
              <a:t>AI Test Automation  ·  Clinical Data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1967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5A6675"/>
                </a:solidFill>
                <a:latin typeface="Segoe UI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331720"/>
            <a:ext cx="1234440" cy="1325880"/>
          </a:xfrm>
          <a:prstGeom prst="roundRect">
            <a:avLst>
              <a:gd name="adj" fmla="val 6000"/>
            </a:avLst>
          </a:prstGeom>
          <a:solidFill>
            <a:srgbClr val="5A66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Engineer raises
a request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856232" y="2862072"/>
            <a:ext cx="237744" cy="256032"/>
          </a:xfrm>
          <a:prstGeom prst="rightArrow">
            <a:avLst/>
          </a:prstGeom>
          <a:solidFill>
            <a:srgbClr val="B6C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203704" y="2331720"/>
            <a:ext cx="1234440" cy="1325880"/>
          </a:xfrm>
          <a:prstGeom prst="roundRect">
            <a:avLst>
              <a:gd name="adj" fmla="val 6000"/>
            </a:avLst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AI builds
the tests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493008" y="2862072"/>
            <a:ext cx="237744" cy="256032"/>
          </a:xfrm>
          <a:prstGeom prst="rightArrow">
            <a:avLst/>
          </a:prstGeom>
          <a:solidFill>
            <a:srgbClr val="B6C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840480" y="2331720"/>
            <a:ext cx="1234440" cy="1325880"/>
          </a:xfrm>
          <a:prstGeom prst="roundRect">
            <a:avLst>
              <a:gd name="adj" fmla="val 6000"/>
            </a:avLst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Tests run
automatically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129784" y="2862072"/>
            <a:ext cx="237744" cy="256032"/>
          </a:xfrm>
          <a:prstGeom prst="rightArrow">
            <a:avLst/>
          </a:prstGeom>
          <a:solidFill>
            <a:srgbClr val="B6C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77256" y="2331720"/>
            <a:ext cx="1234440" cy="1325880"/>
          </a:xfrm>
          <a:prstGeom prst="roundRect">
            <a:avLst>
              <a:gd name="adj" fmla="val 6000"/>
            </a:avLst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Results presented
for review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766560" y="2862072"/>
            <a:ext cx="237744" cy="256032"/>
          </a:xfrm>
          <a:prstGeom prst="rightArrow">
            <a:avLst/>
          </a:prstGeom>
          <a:solidFill>
            <a:srgbClr val="B6C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114032" y="2331720"/>
            <a:ext cx="1234440" cy="1325880"/>
          </a:xfrm>
          <a:prstGeom prst="roundRect">
            <a:avLst>
              <a:gd name="adj" fmla="val 6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Engineer reviews
&amp; approves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403336" y="2862072"/>
            <a:ext cx="237744" cy="256032"/>
          </a:xfrm>
          <a:prstGeom prst="rightArrow">
            <a:avLst/>
          </a:prstGeom>
          <a:solidFill>
            <a:srgbClr val="B6C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750808" y="2331720"/>
            <a:ext cx="1234440" cy="1325880"/>
          </a:xfrm>
          <a:prstGeom prst="roundRect">
            <a:avLst>
              <a:gd name="adj" fmla="val 6000"/>
            </a:avLst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Automated safety
checks pass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10040112" y="2862072"/>
            <a:ext cx="237744" cy="256032"/>
          </a:xfrm>
          <a:prstGeom prst="rightArrow">
            <a:avLst/>
          </a:prstGeom>
          <a:solidFill>
            <a:srgbClr val="B6C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387584" y="2331720"/>
            <a:ext cx="1234440" cy="1325880"/>
          </a:xfrm>
          <a:prstGeom prst="roundRect">
            <a:avLst>
              <a:gd name="adj" fmla="val 6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Quality Lead
authorises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1676888" y="2862072"/>
            <a:ext cx="237744" cy="256032"/>
          </a:xfrm>
          <a:prstGeom prst="rightArrow">
            <a:avLst/>
          </a:prstGeom>
          <a:solidFill>
            <a:srgbClr val="B6C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2024360" y="2331720"/>
            <a:ext cx="1234440" cy="1325880"/>
          </a:xfrm>
          <a:prstGeom prst="roundRect">
            <a:avLst>
              <a:gd name="adj" fmla="val 6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Promoted
to UAT</a:t>
            </a:r>
          </a:p>
        </p:txBody>
      </p:sp>
      <p:sp>
        <p:nvSpPr>
          <p:cNvPr id="24" name="Oval 23"/>
          <p:cNvSpPr/>
          <p:nvPr/>
        </p:nvSpPr>
        <p:spPr>
          <a:xfrm>
            <a:off x="685800" y="4041648"/>
            <a:ext cx="201168" cy="201168"/>
          </a:xfrm>
          <a:prstGeom prst="ellipse">
            <a:avLst/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96696" y="402336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A6675"/>
                </a:solidFill>
                <a:latin typeface="Segoe UI"/>
              </a:rPr>
              <a:t>Automated</a:t>
            </a:r>
          </a:p>
        </p:txBody>
      </p:sp>
      <p:sp>
        <p:nvSpPr>
          <p:cNvPr id="26" name="Oval 25"/>
          <p:cNvSpPr/>
          <p:nvPr/>
        </p:nvSpPr>
        <p:spPr>
          <a:xfrm>
            <a:off x="2971800" y="4041648"/>
            <a:ext cx="201168" cy="20116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3282696" y="402336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A6675"/>
                </a:solidFill>
                <a:latin typeface="Segoe UI"/>
              </a:rPr>
              <a:t>Human decision</a:t>
            </a:r>
          </a:p>
        </p:txBody>
      </p:sp>
      <p:sp>
        <p:nvSpPr>
          <p:cNvPr id="28" name="Oval 27"/>
          <p:cNvSpPr/>
          <p:nvPr/>
        </p:nvSpPr>
        <p:spPr>
          <a:xfrm>
            <a:off x="5257800" y="4041648"/>
            <a:ext cx="201168" cy="201168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568696" y="402336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A6675"/>
                </a:solidFill>
                <a:latin typeface="Segoe UI"/>
              </a:rPr>
              <a:t>Business outcome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4617720"/>
            <a:ext cx="10789920" cy="1325880"/>
          </a:xfrm>
          <a:prstGeom prst="roundRect">
            <a:avLst>
              <a:gd name="adj" fmla="val 6000"/>
            </a:avLst>
          </a:prstGeom>
          <a:solidFill>
            <a:srgbClr val="FDF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685800" y="4617720"/>
            <a:ext cx="73152" cy="132588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051560" y="4846320"/>
            <a:ext cx="10149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0B2545"/>
                </a:solidFill>
                <a:latin typeface="Segoe UI"/>
              </a:rPr>
              <a:t>The governing principle: the AI qualifies the work — a human authorises it.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5A6675"/>
                </a:solidFill>
                <a:latin typeface="Segoe UI"/>
              </a:rPr>
              <a:t>We have deliberately not automated the release decision. For regulated clinical data, a passing test suite earns a candidate the right to be considered. It never authorises the release itself.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00A8A0"/>
                </a:solidFill>
                <a:latin typeface="Segoe UI"/>
              </a:rPr>
              <a:t>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0B2545"/>
                </a:solidFill>
                <a:latin typeface="Segoe UI"/>
              </a:rPr>
              <a:t>Where the time is saved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89304"/>
            <a:ext cx="10789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5A6675"/>
                </a:solidFill>
                <a:latin typeface="Segoe UI"/>
              </a:rPr>
              <a:t>Effort comparison for the pilot — one senior engineer, three data layers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85800" y="651967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5A6675"/>
                </a:solidFill>
                <a:latin typeface="Segoe UI"/>
              </a:rPr>
              <a:t>AI Test Automation  ·  Clinical Data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1967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5A6675"/>
                </a:solidFill>
                <a:latin typeface="Segoe UI"/>
              </a:rPr>
              <a:t>7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7863840" cy="43891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13816" y="1929384"/>
            <a:ext cx="356615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Activity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2855" y="1929384"/>
            <a:ext cx="11887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Manual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34455" y="1929384"/>
            <a:ext cx="11887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AI-assisted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06055" y="1929384"/>
            <a:ext cx="11887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Saved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267712"/>
            <a:ext cx="786384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13816" y="2368296"/>
            <a:ext cx="356615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0B2545"/>
                </a:solidFill>
                <a:latin typeface="Segoe UI"/>
              </a:rPr>
              <a:t>Understanding the existing 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2855" y="2368296"/>
            <a:ext cx="1188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0B2545"/>
                </a:solidFill>
                <a:latin typeface="Segoe UI"/>
              </a:rPr>
              <a:t>1 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34455" y="2368296"/>
            <a:ext cx="1188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0B2545"/>
                </a:solidFill>
                <a:latin typeface="Segoe UI"/>
              </a:rPr>
              <a:t>0.1 day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06055" y="2368296"/>
            <a:ext cx="1188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2E9E5B"/>
                </a:solidFill>
                <a:latin typeface="Segoe UI"/>
              </a:rPr>
              <a:t>90%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2670048"/>
            <a:ext cx="7863840" cy="402336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3816" y="2770632"/>
            <a:ext cx="356615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0B2545"/>
                </a:solidFill>
                <a:latin typeface="Segoe UI"/>
              </a:rPr>
              <a:t>Designing the test approach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2855" y="2770632"/>
            <a:ext cx="1188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0B2545"/>
                </a:solidFill>
                <a:latin typeface="Segoe UI"/>
              </a:rPr>
              <a:t>3.5 days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34455" y="2770632"/>
            <a:ext cx="1188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0B2545"/>
                </a:solidFill>
                <a:latin typeface="Segoe UI"/>
              </a:rPr>
              <a:t>0.5 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06055" y="2770632"/>
            <a:ext cx="1188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2E9E5B"/>
                </a:solidFill>
                <a:latin typeface="Segoe UI"/>
              </a:rPr>
              <a:t>86%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3072384"/>
            <a:ext cx="786384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13816" y="3172968"/>
            <a:ext cx="356615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0B2545"/>
                </a:solidFill>
                <a:latin typeface="Segoe UI"/>
              </a:rPr>
              <a:t>Tests — data ingestion layer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2855" y="3172968"/>
            <a:ext cx="1188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0B2545"/>
                </a:solidFill>
                <a:latin typeface="Segoe UI"/>
              </a:rPr>
              <a:t>2 days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34455" y="3172968"/>
            <a:ext cx="1188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0B2545"/>
                </a:solidFill>
                <a:latin typeface="Segoe UI"/>
              </a:rPr>
              <a:t>0.2 day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06055" y="3172968"/>
            <a:ext cx="1188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2E9E5B"/>
                </a:solidFill>
                <a:latin typeface="Segoe UI"/>
              </a:rPr>
              <a:t>90%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3474720"/>
            <a:ext cx="7863840" cy="402336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13816" y="3575304"/>
            <a:ext cx="356615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0B2545"/>
                </a:solidFill>
                <a:latin typeface="Segoe UI"/>
              </a:rPr>
              <a:t>Tests — data quality layer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2855" y="3575304"/>
            <a:ext cx="1188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0B2545"/>
                </a:solidFill>
                <a:latin typeface="Segoe UI"/>
              </a:rPr>
              <a:t>5 days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34455" y="3575304"/>
            <a:ext cx="1188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0B2545"/>
                </a:solidFill>
                <a:latin typeface="Segoe UI"/>
              </a:rPr>
              <a:t>0.4 day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06055" y="3575304"/>
            <a:ext cx="1188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2E9E5B"/>
                </a:solidFill>
                <a:latin typeface="Segoe UI"/>
              </a:rPr>
              <a:t>92%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" y="3877056"/>
            <a:ext cx="786384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13816" y="3977640"/>
            <a:ext cx="356615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0B2545"/>
                </a:solidFill>
                <a:latin typeface="Segoe UI"/>
              </a:rPr>
              <a:t>Tests — reporting layer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62855" y="3977640"/>
            <a:ext cx="1188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0B2545"/>
                </a:solidFill>
                <a:latin typeface="Segoe UI"/>
              </a:rPr>
              <a:t>5 days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34455" y="3977640"/>
            <a:ext cx="1188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0B2545"/>
                </a:solidFill>
                <a:latin typeface="Segoe UI"/>
              </a:rPr>
              <a:t>0.4 day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06055" y="3977640"/>
            <a:ext cx="1188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2E9E5B"/>
                </a:solidFill>
                <a:latin typeface="Segoe UI"/>
              </a:rPr>
              <a:t>92%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" y="4279392"/>
            <a:ext cx="7863840" cy="402336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13816" y="4379976"/>
            <a:ext cx="356615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0B2545"/>
                </a:solidFill>
                <a:latin typeface="Segoe UI"/>
              </a:rPr>
              <a:t>Debugging, fixing, documenting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62855" y="4379976"/>
            <a:ext cx="1188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0B2545"/>
                </a:solidFill>
                <a:latin typeface="Segoe UI"/>
              </a:rPr>
              <a:t>3 days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34455" y="4379976"/>
            <a:ext cx="1188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0B2545"/>
                </a:solidFill>
                <a:latin typeface="Segoe UI"/>
              </a:rPr>
              <a:t>0.3 day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06055" y="4379976"/>
            <a:ext cx="1188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2E9E5B"/>
                </a:solidFill>
                <a:latin typeface="Segoe UI"/>
              </a:rPr>
              <a:t>90%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5800" y="4681728"/>
            <a:ext cx="786384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813816" y="4782312"/>
            <a:ext cx="356615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E8A33D"/>
                </a:solidFill>
                <a:latin typeface="Segoe UI"/>
              </a:rPr>
              <a:t>Human review (does not compress)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62855" y="4782312"/>
            <a:ext cx="1188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0B2545"/>
                </a:solidFill>
                <a:latin typeface="Segoe UI"/>
              </a:rPr>
              <a:t>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34455" y="4782312"/>
            <a:ext cx="1188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E8A33D"/>
                </a:solidFill>
                <a:latin typeface="Segoe UI"/>
              </a:rPr>
              <a:t>1 day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06055" y="4782312"/>
            <a:ext cx="1188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0B2545"/>
                </a:solidFill>
                <a:latin typeface="Segoe UI"/>
              </a:rPr>
              <a:t>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85800" y="5084064"/>
            <a:ext cx="7863840" cy="5486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813816" y="5221224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TOTAL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34840" y="5221224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≈ 20 days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06440" y="5221224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≈ 2 days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78040" y="5221224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≈ 90%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915400" y="1828800"/>
            <a:ext cx="256032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8915400" y="1828800"/>
            <a:ext cx="64008" cy="1737360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9208008" y="2029968"/>
            <a:ext cx="2103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2E9E5B"/>
                </a:solidFill>
                <a:latin typeface="Segoe UI"/>
              </a:rPr>
              <a:t>18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08008" y="2761488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0B2545"/>
                </a:solidFill>
                <a:latin typeface="Segoe UI"/>
              </a:rPr>
              <a:t>Engineering days saved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208008" y="3154680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5A6675"/>
                </a:solidFill>
                <a:latin typeface="Segoe UI"/>
              </a:rPr>
              <a:t>On this single pilot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915400" y="3703320"/>
            <a:ext cx="256032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Rectangle 59"/>
          <p:cNvSpPr/>
          <p:nvPr/>
        </p:nvSpPr>
        <p:spPr>
          <a:xfrm>
            <a:off x="8915400" y="3703320"/>
            <a:ext cx="64008" cy="1737360"/>
          </a:xfrm>
          <a:prstGeom prst="rect">
            <a:avLst/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9208008" y="3904488"/>
            <a:ext cx="2103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00A8A0"/>
                </a:solidFill>
                <a:latin typeface="Segoe UI"/>
              </a:rPr>
              <a:t>40–60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208008" y="4636008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0B2545"/>
                </a:solidFill>
                <a:latin typeface="Segoe UI"/>
              </a:rPr>
              <a:t>Days released per year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208008" y="5029200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5A6675"/>
                </a:solidFill>
                <a:latin typeface="Segoe UI"/>
              </a:rPr>
              <a:t>Projected, team of six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00A8A0"/>
                </a:solidFill>
                <a:latin typeface="Segoe UI"/>
              </a:rPr>
              <a:t>THE COMPRESSION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0B2545"/>
                </a:solidFill>
                <a:latin typeface="Segoe UI"/>
              </a:rPr>
              <a:t>Twenty days, or two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89304"/>
            <a:ext cx="10789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5A6675"/>
                </a:solidFill>
                <a:latin typeface="Segoe UI"/>
              </a:rPr>
              <a:t>Elapsed working days to a complete, verified and reviewed test suite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85800" y="651967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5A6675"/>
                </a:solidFill>
                <a:latin typeface="Segoe UI"/>
              </a:rPr>
              <a:t>AI Test Automation  ·  Clinical Data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1967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5A6675"/>
                </a:solidFill>
                <a:latin typeface="Segoe UI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4884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5A6675"/>
                </a:solidFill>
                <a:latin typeface="Segoe UI"/>
              </a:rPr>
              <a:t>MANUAL APPROACH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2084831"/>
            <a:ext cx="8229600" cy="777240"/>
          </a:xfrm>
          <a:prstGeom prst="rect">
            <a:avLst/>
          </a:prstGeom>
          <a:solidFill>
            <a:srgbClr val="D9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2926080" y="2084831"/>
            <a:ext cx="411480" cy="777240"/>
          </a:xfrm>
          <a:prstGeom prst="rect">
            <a:avLst/>
          </a:prstGeom>
          <a:solidFill>
            <a:srgbClr val="5A667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337560" y="2084831"/>
            <a:ext cx="1645920" cy="777240"/>
          </a:xfrm>
          <a:prstGeom prst="rect">
            <a:avLst/>
          </a:prstGeom>
          <a:solidFill>
            <a:srgbClr val="1B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337560" y="2359152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Design approach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83480" y="2084831"/>
            <a:ext cx="4937760" cy="777240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983480" y="235915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Write tests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21240" y="2084831"/>
            <a:ext cx="1234440" cy="777240"/>
          </a:xfrm>
          <a:prstGeom prst="rect">
            <a:avLst/>
          </a:prstGeom>
          <a:solidFill>
            <a:srgbClr val="5A667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921240" y="2359152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Debug &amp; document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29718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0B2545"/>
                </a:solidFill>
                <a:latin typeface="Segoe UI"/>
              </a:rPr>
              <a:t>20 working days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977639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00A8A0"/>
                </a:solidFill>
                <a:latin typeface="Segoe UI"/>
              </a:rPr>
              <a:t>AI-ASSISTED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3913632"/>
            <a:ext cx="411480" cy="777240"/>
          </a:xfrm>
          <a:prstGeom prst="rect">
            <a:avLst/>
          </a:prstGeom>
          <a:solidFill>
            <a:srgbClr val="00A8A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3337560" y="3913632"/>
            <a:ext cx="411480" cy="777240"/>
          </a:xfrm>
          <a:prstGeom prst="rect">
            <a:avLst/>
          </a:prstGeom>
          <a:solidFill>
            <a:srgbClr val="E8A33D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886200" y="4142232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00A8A0"/>
                </a:solidFill>
                <a:latin typeface="Segoe UI"/>
              </a:rPr>
              <a:t>2 working days  ◀ AI work + human review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029200"/>
            <a:ext cx="10789920" cy="1051560"/>
          </a:xfrm>
          <a:prstGeom prst="roundRect">
            <a:avLst>
              <a:gd name="adj" fmla="val 6000"/>
            </a:avLst>
          </a:prstGeom>
          <a:solidFill>
            <a:srgbClr val="F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85800" y="5029200"/>
            <a:ext cx="73152" cy="10515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051560" y="5193792"/>
            <a:ext cx="10149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0B2545"/>
                </a:solidFill>
                <a:latin typeface="Segoe UI"/>
              </a:rPr>
              <a:t>An honest note on the number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5A6675"/>
                </a:solidFill>
                <a:latin typeface="Segoe UI"/>
              </a:rPr>
              <a:t>90% applies to building a large volume of tests from scratch — exactly where AI excels. For ongoing smaller tasks, expect 60–70%. We recommend planning against the conservative figure.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00A8A0"/>
                </a:solidFill>
                <a:latin typeface="Segoe UI"/>
              </a:rPr>
              <a:t>BEYOND THE TIME SAVING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0B2545"/>
                </a:solidFill>
                <a:latin typeface="Segoe UI"/>
              </a:rPr>
              <a:t>What it found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89304"/>
            <a:ext cx="10789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5A6675"/>
                </a:solidFill>
                <a:latin typeface="Segoe UI"/>
              </a:rPr>
              <a:t>Two defects, already live in our development environment, missed by code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85800" y="651967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5A6675"/>
                </a:solidFill>
                <a:latin typeface="Segoe UI"/>
              </a:rPr>
              <a:t>AI Test Automation  ·  Clinical Data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1967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5A6675"/>
                </a:solidFill>
                <a:latin typeface="Segoe UI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74519"/>
            <a:ext cx="534924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85800" y="1874519"/>
            <a:ext cx="5349240" cy="82296"/>
          </a:xfrm>
          <a:prstGeom prst="rect">
            <a:avLst/>
          </a:prstGeom>
          <a:solidFill>
            <a:srgbClr val="C03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1005840" y="2148840"/>
            <a:ext cx="1600200" cy="329184"/>
          </a:xfrm>
          <a:prstGeom prst="roundRect">
            <a:avLst>
              <a:gd name="adj" fmla="val 6000"/>
            </a:avLst>
          </a:prstGeom>
          <a:solidFill>
            <a:srgbClr val="C03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DEFECT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651760"/>
            <a:ext cx="47091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700" b="1">
                <a:solidFill>
                  <a:srgbClr val="0B2545"/>
                </a:solidFill>
                <a:latin typeface="Segoe UI"/>
              </a:rPr>
              <a:t>Patient-data protection could fail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5A6675"/>
                </a:solidFill>
                <a:latin typeface="Segoe UI"/>
              </a:rPr>
              <a:t>The system that masks confidential patient information contained a fault that would fail on certain data types.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00" b="1">
                <a:solidFill>
                  <a:srgbClr val="C0393B"/>
                </a:solidFill>
                <a:latin typeface="Segoe UI"/>
              </a:rPr>
              <a:t>Risk avoided: a compliance and privacy incident on regulated clinical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874519"/>
            <a:ext cx="516636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309360" y="1874519"/>
            <a:ext cx="5166360" cy="8229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6629400" y="2148840"/>
            <a:ext cx="1600200" cy="329184"/>
          </a:xfrm>
          <a:prstGeom prst="roundRect">
            <a:avLst>
              <a:gd name="adj" fmla="val 6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DEFECT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651760"/>
            <a:ext cx="45262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700" b="1">
                <a:solidFill>
                  <a:srgbClr val="0B2545"/>
                </a:solidFill>
                <a:latin typeface="Segoe UI"/>
              </a:rPr>
              <a:t>Silently invalid data keys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5A6675"/>
                </a:solidFill>
                <a:latin typeface="Segoe UI"/>
              </a:rPr>
              <a:t>Configuration processing generated invalid keys from ordinary formatting — producing wrong results without producing an error.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300" b="1">
                <a:solidFill>
                  <a:srgbClr val="E8A33D"/>
                </a:solidFill>
                <a:latin typeface="Segoe UI"/>
              </a:rPr>
              <a:t>Risk avoided: silent data-correctness errors in downstream reporting.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663440"/>
            <a:ext cx="10789920" cy="1234440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51560" y="4892040"/>
            <a:ext cx="10149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This is the strongest argument for the investment.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C7D3E0"/>
                </a:solidFill>
                <a:latin typeface="Segoe UI"/>
              </a:rPr>
              <a:t>The pilot paid for itself on the first defect alone.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00A8A0"/>
                </a:solidFill>
                <a:latin typeface="Segoe UI"/>
              </a:rPr>
              <a:t>BUSINESS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0B2545"/>
                </a:solidFill>
                <a:latin typeface="Segoe UI"/>
              </a:rPr>
              <a:t>Value beyond the hours saved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89304"/>
            <a:ext cx="10789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5A6675"/>
                </a:solidFill>
                <a:latin typeface="Segoe UI"/>
              </a:rPr>
              <a:t>Time is the easiest benefit to measure — it is not the most valuable 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85800" y="651967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5A6675"/>
                </a:solidFill>
                <a:latin typeface="Segoe UI"/>
              </a:rPr>
              <a:t>AI Test Automation  ·  Clinical Data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1967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5A6675"/>
                </a:solidFill>
                <a:latin typeface="Segoe UI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920240"/>
            <a:ext cx="342900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85800" y="1920240"/>
            <a:ext cx="64008" cy="1645920"/>
          </a:xfrm>
          <a:prstGeom prst="rect">
            <a:avLst/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24028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Segoe UI"/>
              </a:rPr>
              <a:t>Defects found early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43200"/>
            <a:ext cx="29260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A6675"/>
                </a:solidFill>
                <a:latin typeface="Segoe UI"/>
              </a:rPr>
              <a:t>5–10× lower cost to fix than in UAT or production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920240"/>
            <a:ext cx="342900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389120" y="1920240"/>
            <a:ext cx="64008" cy="1645920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663440" y="224028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Segoe UI"/>
              </a:rPr>
              <a:t>Confidence to modernise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743200"/>
            <a:ext cx="29260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A6675"/>
                </a:solidFill>
                <a:latin typeface="Segoe UI"/>
              </a:rPr>
              <a:t>Turns 'don't touch it' into 'improve it safely'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920240"/>
            <a:ext cx="342900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8092440" y="1920240"/>
            <a:ext cx="64008" cy="1645920"/>
          </a:xfrm>
          <a:prstGeom prst="rect">
            <a:avLst/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366760" y="224028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Segoe UI"/>
              </a:rPr>
              <a:t>Faster, safer delivery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743200"/>
            <a:ext cx="29260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A6675"/>
                </a:solidFill>
                <a:latin typeface="Segoe UI"/>
              </a:rPr>
              <a:t>Problems caught at the point of change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840480"/>
            <a:ext cx="342900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685800" y="3840480"/>
            <a:ext cx="64008" cy="16459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16052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Segoe UI"/>
              </a:rPr>
              <a:t>Audit readiness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663440"/>
            <a:ext cx="29260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A6675"/>
                </a:solidFill>
                <a:latin typeface="Segoe UI"/>
              </a:rPr>
              <a:t>Timestamped, reproducible evidence — automatically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3840480"/>
            <a:ext cx="342900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4389120" y="3840480"/>
            <a:ext cx="64008" cy="1645920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663440" y="416052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Segoe UI"/>
              </a:rPr>
              <a:t>Reduced key-person risk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4663440"/>
            <a:ext cx="29260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A6675"/>
                </a:solidFill>
                <a:latin typeface="Segoe UI"/>
              </a:rPr>
              <a:t>Business rules captured as executable tests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92440" y="3840480"/>
            <a:ext cx="342900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8092440" y="3840480"/>
            <a:ext cx="64008" cy="1645920"/>
          </a:xfrm>
          <a:prstGeom prst="rect">
            <a:avLst/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366760" y="416052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Segoe UI"/>
              </a:rPr>
              <a:t>Faster onboarding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4663440"/>
            <a:ext cx="29260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5A6675"/>
                </a:solidFill>
                <a:latin typeface="Segoe UI"/>
              </a:rPr>
              <a:t>The test suite explains how the platform behaves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00A8A0"/>
                </a:solidFill>
                <a:latin typeface="Segoe UI"/>
              </a:rPr>
              <a:t>SAFETY &amp; CONFIDENTIALITY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0B2545"/>
                </a:solidFill>
                <a:latin typeface="Segoe UI"/>
              </a:rPr>
              <a:t>The questions you should be asking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89304"/>
            <a:ext cx="10789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5A6675"/>
                </a:solidFill>
                <a:latin typeface="Segoe UI"/>
              </a:rPr>
              <a:t>Direct answers to the concerns that AI-assisted engineering legitimately raises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85800" y="651967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5A6675"/>
                </a:solidFill>
                <a:latin typeface="Segoe UI"/>
              </a:rPr>
              <a:t>AI Test Automation  ·  Clinical Data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1967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5A6675"/>
                </a:solidFill>
                <a:latin typeface="Segoe UI"/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0789920" cy="65836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868680" y="1975104"/>
            <a:ext cx="365760" cy="365760"/>
          </a:xfrm>
          <a:prstGeom prst="roundRect">
            <a:avLst>
              <a:gd name="adj" fmla="val 6000"/>
            </a:avLst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901952"/>
            <a:ext cx="3657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0B2545"/>
                </a:solidFill>
                <a:latin typeface="Segoe UI"/>
              </a:rPr>
              <a:t>Does our code leave our environment?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1901952"/>
            <a:ext cx="6126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5A6675"/>
                </a:solidFill>
                <a:latin typeface="Segoe UI"/>
              </a:rPr>
              <a:t>No. Work happens inside our enterprise-controlled boundary. Commercial terms prohibit using our code to train public AI.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523744"/>
            <a:ext cx="1078992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868680" y="2670048"/>
            <a:ext cx="365760" cy="365760"/>
          </a:xfrm>
          <a:prstGeom prst="roundRect">
            <a:avLst>
              <a:gd name="adj" fmla="val 6000"/>
            </a:avLst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596896"/>
            <a:ext cx="3657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0B2545"/>
                </a:solidFill>
                <a:latin typeface="Segoe UI"/>
              </a:rPr>
              <a:t>Can the AI see patient data?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2596896"/>
            <a:ext cx="6126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5A6675"/>
                </a:solidFill>
                <a:latin typeface="Segoe UI"/>
              </a:rPr>
              <a:t>No. It never connects to clinical systems. Tests use invented data — fictional sites, fictional identifiers.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218688"/>
            <a:ext cx="10789920" cy="65836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868680" y="3364992"/>
            <a:ext cx="365760" cy="365760"/>
          </a:xfrm>
          <a:prstGeom prst="roundRect">
            <a:avLst>
              <a:gd name="adj" fmla="val 6000"/>
            </a:avLst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291840"/>
            <a:ext cx="3657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0B2545"/>
                </a:solidFill>
                <a:latin typeface="Segoe UI"/>
              </a:rPr>
              <a:t>Can the AI change production systems?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3291840"/>
            <a:ext cx="6126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5A6675"/>
                </a:solidFill>
                <a:latin typeface="Segoe UI"/>
              </a:rPr>
              <a:t>No. It writes test files only. Any change to real system code requires individually recorded human approval.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3913632"/>
            <a:ext cx="1078992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868680" y="4059936"/>
            <a:ext cx="365760" cy="365760"/>
          </a:xfrm>
          <a:prstGeom prst="roundRect">
            <a:avLst>
              <a:gd name="adj" fmla="val 6000"/>
            </a:avLst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3986784"/>
            <a:ext cx="3657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0B2545"/>
                </a:solidFill>
                <a:latin typeface="Segoe UI"/>
              </a:rPr>
              <a:t>Can the AI release code by itself?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3986784"/>
            <a:ext cx="6126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5A6675"/>
                </a:solidFill>
                <a:latin typeface="Segoe UI"/>
              </a:rPr>
              <a:t>No. Release requires a named Quality Lead and Technical Lead to approve.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4608576"/>
            <a:ext cx="10789920" cy="65836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868680" y="4754880"/>
            <a:ext cx="365760" cy="365760"/>
          </a:xfrm>
          <a:prstGeom prst="roundRect">
            <a:avLst>
              <a:gd name="adj" fmla="val 6000"/>
            </a:avLst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681728"/>
            <a:ext cx="3657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0B2545"/>
                </a:solidFill>
                <a:latin typeface="Segoe UI"/>
              </a:rPr>
              <a:t>What if it makes a mistake?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4681728"/>
            <a:ext cx="6126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5A6675"/>
                </a:solidFill>
                <a:latin typeface="Segoe UI"/>
              </a:rPr>
              <a:t>Every output is reviewed by a qualified engineer. Independent automated checks run in parallel. Nothing merges unreviewed.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5303520"/>
            <a:ext cx="1078992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868680" y="5449824"/>
            <a:ext cx="365760" cy="365760"/>
          </a:xfrm>
          <a:prstGeom prst="roundRect">
            <a:avLst>
              <a:gd name="adj" fmla="val 6000"/>
            </a:avLst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376672"/>
            <a:ext cx="3657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0B2545"/>
                </a:solidFill>
                <a:latin typeface="Segoe UI"/>
              </a:rPr>
              <a:t>Is this auditable?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80" y="5376672"/>
            <a:ext cx="6126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5A6675"/>
                </a:solidFill>
                <a:latin typeface="Segoe UI"/>
              </a:rPr>
              <a:t>Fully. Every session, change, approval and test result is logged and retained.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00A8A0"/>
                </a:solidFill>
                <a:latin typeface="Segoe UI"/>
              </a:rPr>
              <a:t>HUMAN EXPERTISE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0B2545"/>
                </a:solidFill>
                <a:latin typeface="Segoe UI"/>
              </a:rPr>
              <a:t>What the AI does — and what only people can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89304"/>
            <a:ext cx="10789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5A6675"/>
                </a:solidFill>
                <a:latin typeface="Segoe UI"/>
              </a:rPr>
              <a:t>Being clear about the limits is what makes the claims credible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85800" y="651967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5A6675"/>
                </a:solidFill>
                <a:latin typeface="Segoe UI"/>
              </a:rPr>
              <a:t>AI Test Automation  ·  Clinical Data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1967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5A6675"/>
                </a:solidFill>
                <a:latin typeface="Segoe UI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74519"/>
            <a:ext cx="5349240" cy="3566160"/>
          </a:xfrm>
          <a:prstGeom prst="roundRect">
            <a:avLst>
              <a:gd name="adj" fmla="val 6000"/>
            </a:avLst>
          </a:prstGeom>
          <a:solidFill>
            <a:srgbClr val="D8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05840" y="210312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00A8A0"/>
                </a:solidFill>
                <a:latin typeface="Segoe UI"/>
              </a:rPr>
              <a:t>THE AI HANDLES WELL</a:t>
            </a:r>
          </a:p>
        </p:txBody>
      </p:sp>
      <p:sp>
        <p:nvSpPr>
          <p:cNvPr id="11" name="Oval 10"/>
          <p:cNvSpPr/>
          <p:nvPr/>
        </p:nvSpPr>
        <p:spPr>
          <a:xfrm>
            <a:off x="1005840" y="2688336"/>
            <a:ext cx="118872" cy="118872"/>
          </a:xfrm>
          <a:prstGeom prst="ellipse">
            <a:avLst/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98448" y="260604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B2545"/>
                </a:solidFill>
                <a:latin typeface="Segoe UI"/>
              </a:rPr>
              <a:t>Writing large volumes of repetitive test cases</a:t>
            </a:r>
          </a:p>
        </p:txBody>
      </p:sp>
      <p:sp>
        <p:nvSpPr>
          <p:cNvPr id="13" name="Oval 12"/>
          <p:cNvSpPr/>
          <p:nvPr/>
        </p:nvSpPr>
        <p:spPr>
          <a:xfrm>
            <a:off x="1005840" y="3200400"/>
            <a:ext cx="118872" cy="118872"/>
          </a:xfrm>
          <a:prstGeom prst="ellipse">
            <a:avLst/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98448" y="3118104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B2545"/>
                </a:solidFill>
                <a:latin typeface="Segoe UI"/>
              </a:rPr>
              <a:t>Covering edge cases systematically</a:t>
            </a:r>
          </a:p>
        </p:txBody>
      </p:sp>
      <p:sp>
        <p:nvSpPr>
          <p:cNvPr id="15" name="Oval 14"/>
          <p:cNvSpPr/>
          <p:nvPr/>
        </p:nvSpPr>
        <p:spPr>
          <a:xfrm>
            <a:off x="1005840" y="3712464"/>
            <a:ext cx="118872" cy="118872"/>
          </a:xfrm>
          <a:prstGeom prst="ellipse">
            <a:avLst/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298448" y="3630168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B2545"/>
                </a:solidFill>
                <a:latin typeface="Segoe UI"/>
              </a:rPr>
              <a:t>Correcting its own technical errors</a:t>
            </a:r>
          </a:p>
        </p:txBody>
      </p:sp>
      <p:sp>
        <p:nvSpPr>
          <p:cNvPr id="17" name="Oval 16"/>
          <p:cNvSpPr/>
          <p:nvPr/>
        </p:nvSpPr>
        <p:spPr>
          <a:xfrm>
            <a:off x="1005840" y="4224528"/>
            <a:ext cx="118872" cy="118872"/>
          </a:xfrm>
          <a:prstGeom prst="ellipse">
            <a:avLst/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298448" y="4142232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B2545"/>
                </a:solidFill>
                <a:latin typeface="Segoe UI"/>
              </a:rPr>
              <a:t>Producing consistent documentation</a:t>
            </a:r>
          </a:p>
        </p:txBody>
      </p:sp>
      <p:sp>
        <p:nvSpPr>
          <p:cNvPr id="19" name="Oval 18"/>
          <p:cNvSpPr/>
          <p:nvPr/>
        </p:nvSpPr>
        <p:spPr>
          <a:xfrm>
            <a:off x="1005840" y="4736592"/>
            <a:ext cx="118872" cy="118872"/>
          </a:xfrm>
          <a:prstGeom prst="ellipse">
            <a:avLst/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298448" y="4654296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B2545"/>
                </a:solidFill>
                <a:latin typeface="Segoe UI"/>
              </a:rPr>
              <a:t>Working tirelessly through mechanical detail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1874519"/>
            <a:ext cx="5166360" cy="3566160"/>
          </a:xfrm>
          <a:prstGeom prst="roundRect">
            <a:avLst>
              <a:gd name="adj" fmla="val 6000"/>
            </a:avLst>
          </a:prstGeom>
          <a:solidFill>
            <a:srgbClr val="F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629400" y="210312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E8A33D"/>
                </a:solidFill>
                <a:latin typeface="Segoe UI"/>
              </a:rPr>
              <a:t>A HUMAN IS ESSENTIAL</a:t>
            </a:r>
          </a:p>
        </p:txBody>
      </p:sp>
      <p:sp>
        <p:nvSpPr>
          <p:cNvPr id="23" name="Oval 22"/>
          <p:cNvSpPr/>
          <p:nvPr/>
        </p:nvSpPr>
        <p:spPr>
          <a:xfrm>
            <a:off x="6629400" y="2688336"/>
            <a:ext cx="118872" cy="118872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922008" y="260604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B2545"/>
                </a:solidFill>
                <a:latin typeface="Segoe UI"/>
              </a:rPr>
              <a:t>Judging whether a clinical business rule is correct</a:t>
            </a:r>
          </a:p>
        </p:txBody>
      </p:sp>
      <p:sp>
        <p:nvSpPr>
          <p:cNvPr id="25" name="Oval 24"/>
          <p:cNvSpPr/>
          <p:nvPr/>
        </p:nvSpPr>
        <p:spPr>
          <a:xfrm>
            <a:off x="6629400" y="3200400"/>
            <a:ext cx="118872" cy="118872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922008" y="3118104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B2545"/>
                </a:solidFill>
                <a:latin typeface="Segoe UI"/>
              </a:rPr>
              <a:t>Deciding risk trade-offs on live systems</a:t>
            </a:r>
          </a:p>
        </p:txBody>
      </p:sp>
      <p:sp>
        <p:nvSpPr>
          <p:cNvPr id="27" name="Oval 26"/>
          <p:cNvSpPr/>
          <p:nvPr/>
        </p:nvSpPr>
        <p:spPr>
          <a:xfrm>
            <a:off x="6629400" y="3712464"/>
            <a:ext cx="118872" cy="118872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922008" y="3630168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B2545"/>
                </a:solidFill>
                <a:latin typeface="Segoe UI"/>
              </a:rPr>
              <a:t>Approving anything touching patient-data protection</a:t>
            </a:r>
          </a:p>
        </p:txBody>
      </p:sp>
      <p:sp>
        <p:nvSpPr>
          <p:cNvPr id="29" name="Oval 28"/>
          <p:cNvSpPr/>
          <p:nvPr/>
        </p:nvSpPr>
        <p:spPr>
          <a:xfrm>
            <a:off x="6629400" y="4224528"/>
            <a:ext cx="118872" cy="118872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922008" y="414223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B2545"/>
                </a:solidFill>
                <a:latin typeface="Segoe UI"/>
              </a:rPr>
              <a:t>Regulatory interpretation and validation strategy</a:t>
            </a:r>
          </a:p>
        </p:txBody>
      </p:sp>
      <p:sp>
        <p:nvSpPr>
          <p:cNvPr id="31" name="Oval 30"/>
          <p:cNvSpPr/>
          <p:nvPr/>
        </p:nvSpPr>
        <p:spPr>
          <a:xfrm>
            <a:off x="6629400" y="4736592"/>
            <a:ext cx="118872" cy="118872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922008" y="4654296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B2545"/>
                </a:solidFill>
                <a:latin typeface="Segoe UI"/>
              </a:rPr>
              <a:t>Confirming the tests check the right things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5669280"/>
            <a:ext cx="10789920" cy="594360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051560" y="5815584"/>
            <a:ext cx="10149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In short: the AI knows what the code does. Only our people know what it should do.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00A8A0"/>
                </a:solidFill>
                <a:latin typeface="Segoe UI"/>
              </a:rPr>
              <a:t>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0B2545"/>
                </a:solidFill>
                <a:latin typeface="Segoe UI"/>
              </a:rPr>
              <a:t>What the investment looks like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89304"/>
            <a:ext cx="10789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5A6675"/>
                </a:solidFill>
                <a:latin typeface="Segoe UI"/>
              </a:rPr>
              <a:t>An incremental step, not a transformation programme — the foundations are already in place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85800" y="651967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5A6675"/>
                </a:solidFill>
                <a:latin typeface="Segoe UI"/>
              </a:rPr>
              <a:t>AI Test Automation  ·  Clinical Data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1967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5A6675"/>
                </a:solidFill>
                <a:latin typeface="Segoe UI"/>
              </a:rP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74519"/>
            <a:ext cx="10789920" cy="43891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13816" y="1975103"/>
            <a:ext cx="34747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Item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1416" y="1975103"/>
            <a:ext cx="37490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Purpose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03336" y="1975103"/>
            <a:ext cx="30175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Note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313431"/>
            <a:ext cx="1078992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13816" y="2414015"/>
            <a:ext cx="34747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2545"/>
                </a:solidFill>
                <a:latin typeface="Segoe UI"/>
              </a:rPr>
              <a:t>AI assistant licences (Enterprise tier)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1416" y="2414015"/>
            <a:ext cx="37490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2545"/>
                </a:solidFill>
                <a:latin typeface="Segoe UI"/>
              </a:rPr>
              <a:t>Secure operation, policy controls, audit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3336" y="2414015"/>
            <a:ext cx="30175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0B2545"/>
                </a:solidFill>
                <a:latin typeface="Segoe UI"/>
              </a:rPr>
              <a:t>Enterprise tier is required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2788919"/>
            <a:ext cx="10789920" cy="47548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13816" y="2889503"/>
            <a:ext cx="34747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2545"/>
                </a:solidFill>
                <a:latin typeface="Segoe UI"/>
              </a:rPr>
              <a:t>Security scanning add-on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71416" y="2889503"/>
            <a:ext cx="37490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2545"/>
                </a:solidFill>
                <a:latin typeface="Segoe UI"/>
              </a:rPr>
              <a:t>Independent verification of AI 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03336" y="2889503"/>
            <a:ext cx="30175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2545"/>
                </a:solidFill>
                <a:latin typeface="Segoe UI"/>
              </a:rPr>
              <a:t>Recommended for regulated code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3264407"/>
            <a:ext cx="1078992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13816" y="3364991"/>
            <a:ext cx="34747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2545"/>
                </a:solidFill>
                <a:latin typeface="Segoe UI"/>
              </a:rPr>
              <a:t>Automation platform usage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71416" y="3364991"/>
            <a:ext cx="37490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2545"/>
                </a:solidFill>
                <a:latin typeface="Segoe UI"/>
              </a:rPr>
              <a:t>Running tests and safety checks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03336" y="3364991"/>
            <a:ext cx="30175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2545"/>
                </a:solidFill>
                <a:latin typeface="Segoe UI"/>
              </a:rPr>
              <a:t>Minimal — tests take 9 seconds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3739895"/>
            <a:ext cx="10789920" cy="47548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13816" y="3840479"/>
            <a:ext cx="34747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2545"/>
                </a:solidFill>
                <a:latin typeface="Segoe UI"/>
              </a:rPr>
              <a:t>Engineer review 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71416" y="3840479"/>
            <a:ext cx="37490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2545"/>
                </a:solidFill>
                <a:latin typeface="Segoe UI"/>
              </a:rPr>
              <a:t>The essential human control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03336" y="3840479"/>
            <a:ext cx="30175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2545"/>
                </a:solidFill>
                <a:latin typeface="Segoe UI"/>
              </a:rPr>
              <a:t>≈ 1 day per major module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4215383"/>
            <a:ext cx="1078992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13816" y="4315967"/>
            <a:ext cx="34747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2545"/>
                </a:solidFill>
                <a:latin typeface="Segoe UI"/>
              </a:rPr>
              <a:t>Cloud testing compute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71416" y="4315967"/>
            <a:ext cx="37490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0B2545"/>
                </a:solidFill>
                <a:latin typeface="Segoe UI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03336" y="4315967"/>
            <a:ext cx="30175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2E9E5B"/>
                </a:solidFill>
                <a:latin typeface="Segoe UI"/>
              </a:rPr>
              <a:t>ELIMINATED — no data cluster needed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4892040"/>
            <a:ext cx="10789920" cy="1097280"/>
          </a:xfrm>
          <a:prstGeom prst="roundRect">
            <a:avLst>
              <a:gd name="adj" fmla="val 6000"/>
            </a:avLst>
          </a:prstGeom>
          <a:solidFill>
            <a:srgbClr val="E2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685800" y="4892040"/>
            <a:ext cx="73152" cy="1097280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1051560" y="5074920"/>
            <a:ext cx="10149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Segoe UI"/>
              </a:rPr>
              <a:t>We already have the foundations.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5A6675"/>
                </a:solidFill>
                <a:latin typeface="Segoe UI"/>
              </a:rPr>
              <a:t>The platform code, the operating instructions for the AI, our release pipeline, and — most importantly — the engineering judgement to supervise it.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00A8A0"/>
                </a:solidFill>
                <a:latin typeface="Segoe U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0B2545"/>
                </a:solidFill>
                <a:latin typeface="Segoe UI"/>
              </a:rPr>
              <a:t>The path forward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89304"/>
            <a:ext cx="10789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5A6675"/>
                </a:solidFill>
                <a:latin typeface="Segoe UI"/>
              </a:rPr>
              <a:t>Four waves — the first is complete and evidenced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85800" y="651967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5A6675"/>
                </a:solidFill>
                <a:latin typeface="Segoe UI"/>
              </a:rPr>
              <a:t>AI Test Automation  ·  Clinical Data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1967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5A6675"/>
                </a:solidFill>
                <a:latin typeface="Segoe UI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965960"/>
            <a:ext cx="251460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85800" y="1965960"/>
            <a:ext cx="2514600" cy="685800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86968" y="2103120"/>
            <a:ext cx="2103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WAVE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33172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Pilot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" y="2788920"/>
            <a:ext cx="1463040" cy="32004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0B2545"/>
                </a:solidFill>
                <a:latin typeface="Segoe UI"/>
              </a:rPr>
              <a:t>COMPLETE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273552"/>
            <a:ext cx="2148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00" b="0">
                <a:solidFill>
                  <a:srgbClr val="5A6675"/>
                </a:solidFill>
                <a:latin typeface="Segoe UI"/>
              </a:rPr>
              <a:t>146 tests delivered
2 defects found
Zero security incidents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264408" y="3337560"/>
            <a:ext cx="256032" cy="274320"/>
          </a:xfrm>
          <a:prstGeom prst="rightArrow">
            <a:avLst/>
          </a:prstGeom>
          <a:solidFill>
            <a:srgbClr val="5A66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474720" y="1965960"/>
            <a:ext cx="251460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3474720" y="1965960"/>
            <a:ext cx="2514600" cy="685800"/>
          </a:xfrm>
          <a:prstGeom prst="rect">
            <a:avLst/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675888" y="2103120"/>
            <a:ext cx="2103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WAVE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75888" y="233172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Automate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75888" y="2788920"/>
            <a:ext cx="1463040" cy="32004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0B2545"/>
                </a:solidFill>
                <a:latin typeface="Segoe UI"/>
              </a:rPr>
              <a:t>4–6 weeks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75888" y="3273552"/>
            <a:ext cx="2148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00" b="0">
                <a:solidFill>
                  <a:srgbClr val="5A6675"/>
                </a:solidFill>
                <a:latin typeface="Segoe UI"/>
              </a:rPr>
              <a:t>AI works from tickets
All approval controls retained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053328" y="3337560"/>
            <a:ext cx="256032" cy="274320"/>
          </a:xfrm>
          <a:prstGeom prst="rightArrow">
            <a:avLst/>
          </a:prstGeom>
          <a:solidFill>
            <a:srgbClr val="5A66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63640" y="1965960"/>
            <a:ext cx="251460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263640" y="1965960"/>
            <a:ext cx="2514600" cy="685800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464808" y="2103120"/>
            <a:ext cx="2103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WAVE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4808" y="233172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Extend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64808" y="2788920"/>
            <a:ext cx="1463040" cy="32004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0B2545"/>
                </a:solidFill>
                <a:latin typeface="Segoe UI"/>
              </a:rPr>
              <a:t>6–8 weeks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4808" y="3273552"/>
            <a:ext cx="2148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00" b="0">
                <a:solidFill>
                  <a:srgbClr val="5A6675"/>
                </a:solidFill>
                <a:latin typeface="Segoe UI"/>
              </a:rPr>
              <a:t>Apply to further systems
Prove portability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8842248" y="3337560"/>
            <a:ext cx="256032" cy="274320"/>
          </a:xfrm>
          <a:prstGeom prst="rightArrow">
            <a:avLst/>
          </a:prstGeom>
          <a:solidFill>
            <a:srgbClr val="5A66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052560" y="1965960"/>
            <a:ext cx="251460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9052560" y="1965960"/>
            <a:ext cx="2514600" cy="6858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9253728" y="2103120"/>
            <a:ext cx="2103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WAVE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53728" y="233172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Standardise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53728" y="2788920"/>
            <a:ext cx="1463040" cy="32004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0B2545"/>
                </a:solidFill>
                <a:latin typeface="Segoe UI"/>
              </a:rPr>
              <a:t>Ongoing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53728" y="3273552"/>
            <a:ext cx="2148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00" b="0">
                <a:solidFill>
                  <a:srgbClr val="5A6675"/>
                </a:solidFill>
                <a:latin typeface="Segoe UI"/>
              </a:rPr>
              <a:t>Organisational default
Quality-approved procedure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52578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0A8A0"/>
                </a:solidFill>
                <a:latin typeface="Segoe UI"/>
              </a:rPr>
              <a:t>RECOMMENDED NEXT STEPS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" y="5623560"/>
            <a:ext cx="2606040" cy="502920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1  Approve Wave 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410712" y="5623560"/>
            <a:ext cx="2606040" cy="502920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2  Confirm enterprise agreement in writing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35624" y="5623560"/>
            <a:ext cx="2606040" cy="502920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3  Nominate accountable owners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860536" y="5623560"/>
            <a:ext cx="2606040" cy="502920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4  Set the measurement baseline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68680" y="8686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00A8A0"/>
                </a:solidFill>
                <a:latin typeface="Segoe UI"/>
              </a:rPr>
              <a:t>THE 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25880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Segoe UI"/>
              </a:rPr>
              <a:t>We recommend proceeding to Wave 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77440"/>
            <a:ext cx="102412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550" b="0">
                <a:solidFill>
                  <a:srgbClr val="FFFFFF"/>
                </a:solidFill>
                <a:latin typeface="Segoe UI"/>
              </a:rPr>
              <a:t>The pilot delivered a 90% reduction in effort on work the organisation has repeatedly deferred on cost grounds — and found two live defects, one with direct privacy and compliance implications.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500" b="0">
                <a:solidFill>
                  <a:srgbClr val="C7D3E0"/>
                </a:solidFill>
                <a:latin typeface="Segoe UI"/>
              </a:rPr>
              <a:t>The controls are proportionate and already proven: our code stayed inside our boundary, the AI never touched patient data, and every output passed human review.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3886200"/>
            <a:ext cx="10241280" cy="45720"/>
          </a:xfrm>
          <a:prstGeom prst="rect">
            <a:avLst/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68680" y="4251960"/>
            <a:ext cx="102412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1500" b="0">
                <a:solidFill>
                  <a:srgbClr val="C7D3E0"/>
                </a:solidFill>
                <a:latin typeface="Segoe UI"/>
              </a:rPr>
              <a:t>The remaining decision is not technical. It is a business judgement: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2000" b="1">
                <a:solidFill>
                  <a:srgbClr val="00A8A0"/>
                </a:solidFill>
                <a:latin typeface="Segoe UI"/>
              </a:rPr>
              <a:t>We can continue to defer quality assurance because it is expensive — or we can adopt an approach that makes it affordable, and start closing the gap now.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760720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146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619963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8FA3B8"/>
                </a:solidFill>
                <a:latin typeface="Segoe UI"/>
              </a:rPr>
              <a:t>TESTS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5760720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90%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619963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8FA3B8"/>
                </a:solidFill>
                <a:latin typeface="Segoe UI"/>
              </a:rPr>
              <a:t>LESS EFFORT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5760720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619963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8FA3B8"/>
                </a:solidFill>
                <a:latin typeface="Segoe UI"/>
              </a:rPr>
              <a:t>DEFECTS FOUND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5760720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$0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619963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8FA3B8"/>
                </a:solidFill>
                <a:latin typeface="Segoe UI"/>
              </a:rPr>
              <a:t>CLOUD COST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A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00A8A0"/>
                </a:solidFill>
                <a:latin typeface="Segoe U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10789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0B2545"/>
                </a:solidFill>
                <a:latin typeface="Segoe UI"/>
              </a:rPr>
              <a:t>One page for the 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89304"/>
            <a:ext cx="10789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5A6675"/>
                </a:solidFill>
                <a:latin typeface="Segoe UI"/>
              </a:rPr>
              <a:t>Every question, with its answer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85800" y="651967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5A6675"/>
                </a:solidFill>
                <a:latin typeface="Segoe UI"/>
              </a:rPr>
              <a:t>AI Test Automation  ·  Clinical Data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1967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5A6675"/>
                </a:solidFill>
                <a:latin typeface="Segoe UI"/>
              </a:rPr>
              <a:t>16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783080"/>
            <a:ext cx="10789920" cy="402336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13816" y="1883664"/>
            <a:ext cx="3108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05656" y="1883664"/>
            <a:ext cx="731519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Answer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185416"/>
            <a:ext cx="1078992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13816" y="2286000"/>
            <a:ext cx="310896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0B2545"/>
                </a:solidFill>
                <a:latin typeface="Segoe UI"/>
              </a:rPr>
              <a:t>What did we do?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05656" y="2286000"/>
            <a:ext cx="7315199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0B2545"/>
                </a:solidFill>
                <a:latin typeface="Segoe UI"/>
              </a:rPr>
              <a:t>Used an AI assistant to build a complete automated test suite for the Clinical Data Platform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2551176"/>
            <a:ext cx="10789920" cy="3657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13816" y="2651760"/>
            <a:ext cx="310896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0B2545"/>
                </a:solidFill>
                <a:latin typeface="Segoe UI"/>
              </a:rPr>
              <a:t>How long did it take?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05656" y="2651760"/>
            <a:ext cx="7315199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B2545"/>
                </a:solidFill>
                <a:latin typeface="Segoe UI"/>
              </a:rPr>
              <a:t>2 days, versus 20 days manually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2916936"/>
            <a:ext cx="1078992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13816" y="3017520"/>
            <a:ext cx="310896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0B2545"/>
                </a:solidFill>
                <a:latin typeface="Segoe UI"/>
              </a:rPr>
              <a:t>What did it save?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05656" y="3017520"/>
            <a:ext cx="7315199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2E9E5B"/>
                </a:solidFill>
                <a:latin typeface="Segoe UI"/>
              </a:rPr>
              <a:t>≈ 18 engineering days — a 90% reduction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3282696"/>
            <a:ext cx="10789920" cy="3657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13816" y="3383280"/>
            <a:ext cx="310896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0B2545"/>
                </a:solidFill>
                <a:latin typeface="Segoe UI"/>
              </a:rPr>
              <a:t>What did it find?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05656" y="3383280"/>
            <a:ext cx="7315199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393B"/>
                </a:solidFill>
                <a:latin typeface="Segoe UI"/>
              </a:rPr>
              <a:t>2 live defects, one affecting patient-data protection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3648456"/>
            <a:ext cx="1078992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13816" y="3749040"/>
            <a:ext cx="310896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0B2545"/>
                </a:solidFill>
                <a:latin typeface="Segoe UI"/>
              </a:rPr>
              <a:t>What did it cost to run?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05656" y="3749040"/>
            <a:ext cx="7315199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0B2545"/>
                </a:solidFill>
                <a:latin typeface="Segoe UI"/>
              </a:rPr>
              <a:t>$0 in cloud compute — the suite runs in 9 seconds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4014216"/>
            <a:ext cx="10789920" cy="3657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13816" y="4114800"/>
            <a:ext cx="310896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0B2545"/>
                </a:solidFill>
                <a:latin typeface="Segoe UI"/>
              </a:rPr>
              <a:t>Is our code safe?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05656" y="4114800"/>
            <a:ext cx="7315199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0B2545"/>
                </a:solidFill>
                <a:latin typeface="Segoe UI"/>
              </a:rPr>
              <a:t>Yes — it never leaves our environment; enterprise terms prohibit training use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4379976"/>
            <a:ext cx="1078992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13816" y="4480560"/>
            <a:ext cx="310896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0B2545"/>
                </a:solidFill>
                <a:latin typeface="Segoe UI"/>
              </a:rPr>
              <a:t>Is patient data safe?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05656" y="4480560"/>
            <a:ext cx="7315199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0B2545"/>
                </a:solidFill>
                <a:latin typeface="Segoe UI"/>
              </a:rPr>
              <a:t>Yes — the tests cannot connect to clinical data by design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" y="4745736"/>
            <a:ext cx="10789920" cy="3657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13816" y="4846320"/>
            <a:ext cx="310896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0B2545"/>
                </a:solidFill>
                <a:latin typeface="Segoe UI"/>
              </a:rPr>
              <a:t>Who approves changes?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05656" y="4846320"/>
            <a:ext cx="7315199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0B2545"/>
                </a:solidFill>
                <a:latin typeface="Segoe UI"/>
              </a:rPr>
              <a:t>A qualified engineer, plus a Quality Lead for any release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" y="5111496"/>
            <a:ext cx="1078992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13816" y="5212080"/>
            <a:ext cx="310896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0B2545"/>
                </a:solidFill>
                <a:latin typeface="Segoe UI"/>
              </a:rPr>
              <a:t>What is the ongoing saving?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05656" y="5212080"/>
            <a:ext cx="7315199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0B2545"/>
                </a:solidFill>
                <a:latin typeface="Segoe UI"/>
              </a:rPr>
              <a:t>60–85% on future testing work; 40–60 engineering days per year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" y="5477256"/>
            <a:ext cx="10789920" cy="3657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13816" y="5577840"/>
            <a:ext cx="310896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0B2545"/>
                </a:solidFill>
                <a:latin typeface="Segoe UI"/>
              </a:rPr>
              <a:t>What do we recommend?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05656" y="5577840"/>
            <a:ext cx="7315199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00A8A0"/>
                </a:solidFill>
                <a:latin typeface="Segoe UI"/>
              </a:rPr>
              <a:t>Approve Wave 2 — automate the workflow, retain every control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